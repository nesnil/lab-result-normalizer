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834640"/>
            <a:ext cx="4937760" cy="4937760"/>
          </a:xfrm>
          <a:prstGeom prst="ellipse">
            <a:avLst/>
          </a:prstGeom>
          <a:ln w="12700">
            <a:solidFill>
              <a:srgbClr val="0E7C7B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2834640"/>
            <a:ext cx="4114800" cy="4114800"/>
          </a:xfrm>
          <a:prstGeom prst="ellipse">
            <a:avLst/>
          </a:prstGeom>
          <a:ln w="12700">
            <a:solidFill>
              <a:srgbClr val="0E7C7B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834640"/>
            <a:ext cx="3291840" cy="3291840"/>
          </a:xfrm>
          <a:prstGeom prst="ellipse">
            <a:avLst/>
          </a:prstGeom>
          <a:ln w="12700">
            <a:solidFill>
              <a:srgbClr val="0E7C7B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2834640"/>
            <a:ext cx="2468880" cy="2468880"/>
          </a:xfrm>
          <a:prstGeom prst="ellipse">
            <a:avLst/>
          </a:prstGeom>
          <a:ln w="12700">
            <a:solidFill>
              <a:srgbClr val="0E7C7B">
                <a:alpha val="5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04120" y="4343400"/>
            <a:ext cx="822960" cy="822960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451713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ACITS · 算丰杯医疗 AI SKILL 开发大赛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" y="17830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骨科特色</a:t>
            </a:r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出院小结生成 Skill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Ortho-Discharge-Summary  ·  把零散住院资料，治理为可供医生审核签发的规范出院小结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22960" y="4480560"/>
            <a:ext cx="2510028" cy="457200"/>
          </a:xfrm>
          <a:prstGeom prst="roundRect">
            <a:avLst>
              <a:gd name="adj" fmla="val 20000"/>
            </a:avLst>
          </a:prstGeom>
          <a:solidFill>
            <a:srgbClr val="12333D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480560"/>
            <a:ext cx="2510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通用骨架 + 可插拔骨科知识库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589020" y="4480560"/>
            <a:ext cx="1801368" cy="457200"/>
          </a:xfrm>
          <a:prstGeom prst="roundRect">
            <a:avLst>
              <a:gd name="adj" fmla="val 20000"/>
            </a:avLst>
          </a:prstGeom>
          <a:solidFill>
            <a:srgbClr val="12333D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89020" y="448056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规则优先 · 不臆造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46420" y="4480560"/>
            <a:ext cx="2226564" cy="457200"/>
          </a:xfrm>
          <a:prstGeom prst="roundRect">
            <a:avLst>
              <a:gd name="adj" fmla="val 20000"/>
            </a:avLst>
          </a:prstGeom>
          <a:solidFill>
            <a:srgbClr val="12333D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46420" y="4480560"/>
            <a:ext cx="2226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输出为草稿 · 需医生签发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赛道  </a:t>
            </a:r>
            <a:pPr indent="0" marL="0">
              <a:buNone/>
            </a:pPr>
            <a:r>
              <a:rPr lang="en-US" sz="13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辅助诊疗 / 文书生成</a:t>
            </a:r>
            <a:pPr indent="0" marL="0">
              <a:buNone/>
            </a:pPr>
            <a:r>
              <a:rPr lang="en-US" sz="1300" b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提交截止  </a:t>
            </a:r>
            <a:pPr indent="0" marL="0">
              <a:buNone/>
            </a:pPr>
            <a:r>
              <a:rPr lang="en-US" sz="13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场景描述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骨科出院小结：高频、专科、易出错的临床文书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一次骨科住院，会沉淀出一堆</a:t>
            </a:r>
            <a:pPr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零散、多来源</a:t>
            </a:r>
            <a:pPr indent="0" marL="0">
              <a:buNone/>
            </a:pPr>
            <a:r>
              <a:rPr lang="en-US" sz="15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的资料——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4597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3500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病案首页   </a:t>
            </a:r>
            <a:pPr indent="0" marL="0">
              <a:buNone/>
            </a:pPr>
            <a:r>
              <a:rPr lang="en-US" sz="12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基本信息、诊断编码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3044952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729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0632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入院记录   </a:t>
            </a:r>
            <a:pPr indent="0" marL="0">
              <a:buNone/>
            </a:pPr>
            <a:r>
              <a:rPr lang="en-US" sz="12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主诉、现病史、专科查体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66928" y="3758184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88620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377647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手术记录   </a:t>
            </a:r>
            <a:pPr indent="0" marL="0">
              <a:buNone/>
            </a:pPr>
            <a:r>
              <a:rPr lang="en-US" sz="12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术式、入路、内固定物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66928" y="4471416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59943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44897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病程 / 医嘱   </a:t>
            </a:r>
            <a:pPr indent="0" marL="0">
              <a:buNone/>
            </a:pPr>
            <a:r>
              <a:rPr lang="en-US" sz="12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术后处置、复查、决策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943600" y="1691640"/>
            <a:ext cx="5669280" cy="1965960"/>
          </a:xfrm>
          <a:prstGeom prst="roundRect">
            <a:avLst>
              <a:gd name="adj" fmla="val 372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5400000">
              <a:srgbClr val="0A2A30">
                <a:alpha val="16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2636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需产出唯一文书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263640" y="22128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一份规范的骨科出院小结（出院记录）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6263640" y="272491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既要贴合真实临床书写版式，又要准确表达术式、分型、康复时序、VTE 预防与内固定随访。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943600" y="3913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临床痛点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943600" y="42793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4379976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83680" y="42611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耗时　</a:t>
            </a:r>
            <a:pPr indent="0" marL="0">
              <a:buNone/>
            </a:pPr>
            <a:r>
              <a:rPr lang="en-US" sz="12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术后集中出院，医生重复誊抄、拼接资料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943600" y="48828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498348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0" y="48646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易错　</a:t>
            </a:r>
            <a:pPr indent="0" marL="0">
              <a:buNone/>
            </a:pPr>
            <a:r>
              <a:rPr lang="en-US" sz="12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侧别、日期、诊断—术式部位易前后矛盾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943600" y="54864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184" y="5586984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83680" y="54681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不规范　</a:t>
            </a:r>
            <a:pPr indent="0" marL="0">
              <a:buNone/>
            </a:pPr>
            <a:r>
              <a:rPr lang="en-US" sz="12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分型、康复负重时序、VTE 方案表述随意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算丰杯医疗 AI Skill 开发大赛  ·  骨科特色出院小结生成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需求分析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医生真正需要的，不是“自动写作机”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把需求拆成“要什么”与“守什么”两层：功能满足效率，约束守住临床可信底线。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功能需求 · 要什么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569464"/>
            <a:ext cx="457200" cy="45720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6700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514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结构化重组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17320" y="2816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零散资料 → 标准出院小结章节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3300984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3474720"/>
            <a:ext cx="457200" cy="45720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57530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4198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骨科要素规范化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417320" y="3721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术式 / 分型 / 内固定 / 入路 统一表述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4206240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4379976"/>
            <a:ext cx="457200" cy="45720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48056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3251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专科内容生成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417320" y="4626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负重康复时序 · VTE 预防 · 内固定随访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66928" y="5111496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86384" y="5285232"/>
            <a:ext cx="457200" cy="45720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38581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52303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质控与追溯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417320" y="5532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缺失项与逻辑冲突显式提示，可回溯来源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263640" y="233172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5400000">
              <a:srgbClr val="0A2A30">
                <a:alpha val="1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537960" y="2542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非功能约束 · 守什么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537960" y="2971800"/>
            <a:ext cx="457200" cy="457200"/>
          </a:xfrm>
          <a:prstGeom prst="ellipse">
            <a:avLst/>
          </a:prstGeom>
          <a:solidFill>
            <a:srgbClr val="12333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07238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50608" y="2953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不臆造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7150608" y="3246120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资料没有即标“待补充”，绝不编造诊断/术式/用药/日期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537960" y="3712464"/>
            <a:ext cx="457200" cy="457200"/>
          </a:xfrm>
          <a:prstGeom prst="ellipse">
            <a:avLst/>
          </a:prstGeom>
          <a:solidFill>
            <a:srgbClr val="12333D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381304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50608" y="36941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忠实可追溯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7150608" y="3986784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raw 原文与来源，规范化给出 std + 依据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537960" y="4453128"/>
            <a:ext cx="457200" cy="457200"/>
          </a:xfrm>
          <a:prstGeom prst="ellipse">
            <a:avLst/>
          </a:prstGeom>
          <a:solidFill>
            <a:srgbClr val="12333D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45537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150608" y="4434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质控可见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7150608" y="4727448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缺失、冲突、未规范项统一进质控清单，不静默丢弃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6537960" y="5193792"/>
            <a:ext cx="457200" cy="457200"/>
          </a:xfrm>
          <a:prstGeom prst="ellipse">
            <a:avLst/>
          </a:prstGeom>
          <a:solidFill>
            <a:srgbClr val="12333D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294376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50608" y="51755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需医生签发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7150608" y="546811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输出为草稿，非诊疗结论，须经治医生审核签字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算丰杯医疗 AI Skill 开发大赛  ·  骨科特色出院小结生成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 拆解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架构：通用骨科骨架 + 可插拔专科知识库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主流程通用、稳定；骨科深度全部沉淀进知识库。医生补充知识即可加深特色，无需改动主流程。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5400000">
              <a:srgbClr val="0A2A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59152"/>
            <a:ext cx="512064" cy="512064"/>
          </a:xfrm>
          <a:prstGeom prst="ellipse">
            <a:avLst/>
          </a:prstGeom>
          <a:solidFill>
            <a:srgbClr val="123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— 通用主流程（骨架）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36192" y="2615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阶段生成流水线，模型无关，过程对用户可见；只做编排与调度，不写死具体术式。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78408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pPr algn="r" indent="0" marL="0">
              <a:buNone/>
            </a:pPr>
            <a:r>
              <a:rPr lang="en-US" sz="1300" dirty="0">
                <a:solidFill>
                  <a:srgbClr val="9FB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v1.0.0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3200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查阅 ▾  规则优先，一律查 references/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3703320"/>
            <a:ext cx="2121408" cy="214884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9050">
            <a:solidFill>
              <a:srgbClr val="17A398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16736" y="3913632"/>
            <a:ext cx="621792" cy="621792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05993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462686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extraction_rules.md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13232" y="49560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抽取规则 + 字段映射 + 逻辑校验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69264" y="5541264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/>
        </p:spPr>
      </p:sp>
      <p:sp>
        <p:nvSpPr>
          <p:cNvPr id="18" name="Text 14"/>
          <p:cNvSpPr/>
          <p:nvPr/>
        </p:nvSpPr>
        <p:spPr>
          <a:xfrm>
            <a:off x="969264" y="55412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 + 医生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807208" y="3703320"/>
            <a:ext cx="2121408" cy="214884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9050">
            <a:solidFill>
              <a:srgbClr val="17A398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557016" y="3913632"/>
            <a:ext cx="621792" cy="621792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405993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898648" y="462686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ortho_knowledge.md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953512" y="49560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分型体系 · 术式 · 内固定 · 入路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9544" y="5541264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/>
        </p:spPr>
      </p:sp>
      <p:sp>
        <p:nvSpPr>
          <p:cNvPr id="25" name="Text 20"/>
          <p:cNvSpPr/>
          <p:nvPr/>
        </p:nvSpPr>
        <p:spPr>
          <a:xfrm>
            <a:off x="3209544" y="55412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骨科医生审阅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047488" y="3703320"/>
            <a:ext cx="2121408" cy="214884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9050">
            <a:solidFill>
              <a:srgbClr val="17A398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797296" y="3913632"/>
            <a:ext cx="621792" cy="621792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05993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38928" y="462686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discharge_template.md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193792" y="49560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本院版式校准的章节模板与必填项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49824" y="5541264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/>
        </p:spPr>
      </p:sp>
      <p:sp>
        <p:nvSpPr>
          <p:cNvPr id="32" name="Text 26"/>
          <p:cNvSpPr/>
          <p:nvPr/>
        </p:nvSpPr>
        <p:spPr>
          <a:xfrm>
            <a:off x="5449824" y="55412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 + 技术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287768" y="3703320"/>
            <a:ext cx="2121408" cy="214884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9050">
            <a:solidFill>
              <a:srgbClr val="17A398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037576" y="3913632"/>
            <a:ext cx="621792" cy="621792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059936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79208" y="462686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rehab_vte_protocols.md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434072" y="49560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类术式康复 · VTE 三级预防 · 随访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690104" y="5541264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/>
        </p:spPr>
      </p:sp>
      <p:sp>
        <p:nvSpPr>
          <p:cNvPr id="39" name="Text 32"/>
          <p:cNvSpPr/>
          <p:nvPr/>
        </p:nvSpPr>
        <p:spPr>
          <a:xfrm>
            <a:off x="7690104" y="55412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骨科医生确认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9528048" y="3703320"/>
            <a:ext cx="2121408" cy="2148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0277856" y="3913632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4059936"/>
            <a:ext cx="329184" cy="32918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619488" y="462686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output_schema.md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9674352" y="49560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排版规范 · 质控清单 · 结构化 JSON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9930384" y="5541264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DCE7E6"/>
          </a:solidFill>
          <a:ln/>
        </p:spPr>
      </p:sp>
      <p:sp>
        <p:nvSpPr>
          <p:cNvPr id="46" name="Text 38"/>
          <p:cNvSpPr/>
          <p:nvPr/>
        </p:nvSpPr>
        <p:spPr>
          <a:xfrm>
            <a:off x="9930384" y="55412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566928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深色边框卡片 = 骨科医生贡献的可插拔专科知识（“医生 × 技术”协作产品化）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算丰杯医疗 AI Skill 开发大赛  ·  骨科特色出院小结生成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 拆解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阶段生成流水线：每阶段产物喂下一阶段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121408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313432"/>
            <a:ext cx="457200" cy="457200"/>
          </a:xfrm>
          <a:prstGeom prst="ellipse">
            <a:avLst/>
          </a:prstGeom>
          <a:solidFill>
            <a:srgbClr val="0E2A3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38528" y="2313432"/>
            <a:ext cx="548640" cy="54864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24414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9008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资料解析与要素归集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36850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按来源归类抽取要素，记 source；缺失记 null。只忠实归集，不规范化、不补全。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9808" y="52578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 </a:t>
            </a:r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extraction_rules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70048" y="3886200"/>
            <a:ext cx="155448" cy="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07208" y="2148840"/>
            <a:ext cx="2121408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53512" y="2313432"/>
            <a:ext cx="457200" cy="457200"/>
          </a:xfrm>
          <a:prstGeom prst="ellipse">
            <a:avLst/>
          </a:prstGeom>
          <a:solidFill>
            <a:srgbClr val="0E2A33"/>
          </a:solidFill>
          <a:ln/>
        </p:spPr>
      </p:sp>
      <p:sp>
        <p:nvSpPr>
          <p:cNvPr id="15" name="Text 12"/>
          <p:cNvSpPr/>
          <p:nvPr/>
        </p:nvSpPr>
        <p:spPr>
          <a:xfrm>
            <a:off x="2953512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178808" y="2313432"/>
            <a:ext cx="548640" cy="54864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244144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71800" y="299008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骨科要素规范化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2990088" y="36850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术式 / 分型 / 内固定 / 入路 统一为规范表述；保留 raw，给出 std + 依据。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990088" y="52578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 </a:t>
            </a:r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ortho_knowledge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910328" y="3886200"/>
            <a:ext cx="155448" cy="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047488" y="2148840"/>
            <a:ext cx="2121408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93792" y="2313432"/>
            <a:ext cx="457200" cy="457200"/>
          </a:xfrm>
          <a:prstGeom prst="ellipse">
            <a:avLst/>
          </a:prstGeom>
          <a:solidFill>
            <a:srgbClr val="0E2A33"/>
          </a:solidFill>
          <a:ln/>
        </p:spPr>
      </p:sp>
      <p:sp>
        <p:nvSpPr>
          <p:cNvPr id="24" name="Text 20"/>
          <p:cNvSpPr/>
          <p:nvPr/>
        </p:nvSpPr>
        <p:spPr>
          <a:xfrm>
            <a:off x="5193792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419088" y="2313432"/>
            <a:ext cx="548640" cy="54864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441448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12080" y="299008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出院小结章节组装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5230368" y="36850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按本院版式与章节顺序填充；缺失字段填【待补充：xxx】，不编造。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230368" y="52578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 </a:t>
            </a:r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discharge_template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150608" y="3886200"/>
            <a:ext cx="155448" cy="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7287768" y="2148840"/>
            <a:ext cx="2121408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434072" y="2313432"/>
            <a:ext cx="457200" cy="457200"/>
          </a:xfrm>
          <a:prstGeom prst="ellipse">
            <a:avLst/>
          </a:prstGeom>
          <a:solidFill>
            <a:srgbClr val="0E2A33"/>
          </a:solidFill>
          <a:ln/>
        </p:spPr>
      </p:sp>
      <p:sp>
        <p:nvSpPr>
          <p:cNvPr id="33" name="Text 28"/>
          <p:cNvSpPr/>
          <p:nvPr/>
        </p:nvSpPr>
        <p:spPr>
          <a:xfrm>
            <a:off x="7434072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8659368" y="2313432"/>
            <a:ext cx="548640" cy="54864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2441448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52360" y="299008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骨科专项内容生成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7470648" y="36850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按术式/诊断生成负重康复时序、VTE 预防、内固定随访与专科注意事项。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7470648" y="52578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 </a:t>
            </a:r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rehab_vte_protocols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9390888" y="3886200"/>
            <a:ext cx="155448" cy="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9528048" y="2148840"/>
            <a:ext cx="2121408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9674352" y="2313432"/>
            <a:ext cx="457200" cy="457200"/>
          </a:xfrm>
          <a:prstGeom prst="ellipse">
            <a:avLst/>
          </a:prstGeom>
          <a:solidFill>
            <a:srgbClr val="0E2A33"/>
          </a:solidFill>
          <a:ln/>
        </p:spPr>
      </p:sp>
      <p:sp>
        <p:nvSpPr>
          <p:cNvPr id="42" name="Text 36"/>
          <p:cNvSpPr/>
          <p:nvPr/>
        </p:nvSpPr>
        <p:spPr>
          <a:xfrm>
            <a:off x="9674352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Shape 37"/>
          <p:cNvSpPr/>
          <p:nvPr/>
        </p:nvSpPr>
        <p:spPr>
          <a:xfrm>
            <a:off x="10899648" y="2313432"/>
            <a:ext cx="548640" cy="548640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664" y="2441448"/>
            <a:ext cx="292608" cy="29260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692640" y="299008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质控校验与输出</a:t>
            </a:r>
            <a:endParaRPr lang="en-US" sz="1450" dirty="0"/>
          </a:p>
        </p:txBody>
      </p:sp>
      <p:sp>
        <p:nvSpPr>
          <p:cNvPr id="46" name="Text 39"/>
          <p:cNvSpPr/>
          <p:nvPr/>
        </p:nvSpPr>
        <p:spPr>
          <a:xfrm>
            <a:off x="9710928" y="36850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完整性 + 逻辑一致性校验（日期/侧别/部位）；先小结草稿，后质控清单。</a:t>
            </a:r>
            <a:endParaRPr lang="en-US" sz="1150" dirty="0"/>
          </a:p>
        </p:txBody>
      </p:sp>
      <p:sp>
        <p:nvSpPr>
          <p:cNvPr id="47" name="Text 40"/>
          <p:cNvSpPr/>
          <p:nvPr/>
        </p:nvSpPr>
        <p:spPr>
          <a:xfrm>
            <a:off x="9710928" y="52578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 </a:t>
            </a:r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output_schema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566928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= 人读出院小结草稿（核心产物） + 质控清单（分级） + 可选结构化 JSON ；文末固定附“须经医生审核签字”免责声明。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算丰杯医疗 AI Skill 开发大赛  ·  骨科特色出院小结生成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 拆解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差异化与亮点：为什么它比通用模板更专业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075688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94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可插拔专科深度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27632" y="2331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骨折/疾病分型（AO/OTA、Gustilo、Garden、Schatzker、Frankel…）与 10 类术式康复方案，均依公开权威文献/指南核验并标注来源。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566928" y="3200400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493008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66674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 × 技术协作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27632" y="3749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索引标注主要贡献者：主流程由技术维护，专科口径由骨科医生审阅确认，体现临床经验的产品化沉淀。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566928" y="4617720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4910328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08406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文书治理，非写作机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27632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强质控、不臆造、需医生签发，定位“出院文书治理辅助”，与平台 MDT / 核保类作品错位互补。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812280" y="1783080"/>
            <a:ext cx="4828032" cy="4224528"/>
          </a:xfrm>
          <a:prstGeom prst="roundRect">
            <a:avLst>
              <a:gd name="adj" fmla="val 173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5400000">
              <a:srgbClr val="0A2A30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86600" y="1993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知识库覆盖（v1）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086600" y="239572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600" dirty="0"/>
          </a:p>
        </p:txBody>
      </p:sp>
      <p:sp>
        <p:nvSpPr>
          <p:cNvPr id="22" name="Text 17"/>
          <p:cNvSpPr/>
          <p:nvPr/>
        </p:nvSpPr>
        <p:spPr>
          <a:xfrm>
            <a:off x="8732520" y="239572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D6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骨折 / 疾病分型体系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086600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24" name="Text 19"/>
          <p:cNvSpPr/>
          <p:nvPr/>
        </p:nvSpPr>
        <p:spPr>
          <a:xfrm>
            <a:off x="8732520" y="32918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D6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类术式分阶段康复方案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7086600" y="418795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26" name="Text 21"/>
          <p:cNvSpPr/>
          <p:nvPr/>
        </p:nvSpPr>
        <p:spPr>
          <a:xfrm>
            <a:off x="8732520" y="41879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D6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阶段流水线 · 5 份知识库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7086600" y="5175504"/>
            <a:ext cx="4315968" cy="0"/>
          </a:xfrm>
          <a:prstGeom prst="line">
            <a:avLst/>
          </a:prstGeom>
          <a:noFill/>
          <a:ln w="12700">
            <a:solidFill>
              <a:srgbClr val="27505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86600" y="53035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覆盖创伤骨折内固定 · 关节置换 · 脊柱 · 运动医学等常见骨科住院场景；专科深度随知识库充实持续加深。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算丰杯医疗 AI Skill 开发大赛  ·  骨科特色出院小结生成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验证样例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验证样例：≥5 例真实脱敏 / 仿真混合案例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覆盖典型骨科场景 + 质控触发场景；每例给出“输入资料 → 生成小结 → 质控清单”的完整比对（内容待补充）。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95728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5328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 · 创伤骨折内固定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27048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如股骨/胫骨骨折髓内钉/钢板内固定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4315968" y="2103120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5424" y="2395728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5328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 · 关节置换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276088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 THA / TKA，含入路相关体位预防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8065008" y="2103120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4464" y="2395728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53288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25128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3 · 脊柱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025128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如腰椎/颈椎融合，支具与神经监测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566928" y="3493008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6E2E1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6384" y="3785616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92277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27048" y="3694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4 · 运动医学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27048" y="40599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 ACL 重建 / 肩袖修补康复时序</a:t>
            </a:r>
            <a:endParaRPr lang="en-US" sz="1130" dirty="0"/>
          </a:p>
        </p:txBody>
      </p:sp>
      <p:sp>
        <p:nvSpPr>
          <p:cNvPr id="25" name="Shape 19"/>
          <p:cNvSpPr/>
          <p:nvPr/>
        </p:nvSpPr>
        <p:spPr>
          <a:xfrm>
            <a:off x="4315968" y="3493008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9050">
            <a:solidFill>
              <a:srgbClr val="E8B24A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35424" y="3785616"/>
            <a:ext cx="566928" cy="566928"/>
          </a:xfrm>
          <a:prstGeom prst="ellipse">
            <a:avLst/>
          </a:prstGeom>
          <a:solidFill>
            <a:srgbClr val="E8B2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92277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76088" y="3694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5 · 逻辑冲突触发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276088" y="40599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侧别矛盾 / 日期不符 → 质控清单报出</a:t>
            </a:r>
            <a:endParaRPr lang="en-US" sz="1130" dirty="0"/>
          </a:p>
        </p:txBody>
      </p:sp>
      <p:sp>
        <p:nvSpPr>
          <p:cNvPr id="30" name="Shape 23"/>
          <p:cNvSpPr/>
          <p:nvPr/>
        </p:nvSpPr>
        <p:spPr>
          <a:xfrm>
            <a:off x="8065008" y="3493008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9050">
            <a:solidFill>
              <a:srgbClr val="E8B24A"/>
            </a:solidFill>
            <a:prstDash val="solid"/>
          </a:ln>
          <a:effectLst>
            <a:outerShdw sx="100000" sy="100000" kx="0" ky="0" algn="bl" rotWithShape="0" blurRad="76200" dist="38100" dir="5400000">
              <a:srgbClr val="0A2A3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84464" y="3785616"/>
            <a:ext cx="566928" cy="566928"/>
          </a:xfrm>
          <a:prstGeom prst="ellipse">
            <a:avLst/>
          </a:prstGeom>
          <a:solidFill>
            <a:srgbClr val="E8B2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92277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25128" y="3694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6 · 资料缺失触发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9025128" y="40599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关键字段缺失 →【待补充】占位提示</a:t>
            </a:r>
            <a:endParaRPr lang="en-US" sz="1130" dirty="0"/>
          </a:p>
        </p:txBody>
      </p:sp>
      <p:sp>
        <p:nvSpPr>
          <p:cNvPr id="35" name="Shape 27"/>
          <p:cNvSpPr/>
          <p:nvPr/>
        </p:nvSpPr>
        <p:spPr>
          <a:xfrm>
            <a:off x="566928" y="589788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EAF3F2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77240" y="5897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【此处留白，待补充】</a:t>
            </a:r>
            <a:pPr indent="0" marL="0">
              <a:buNone/>
            </a:pPr>
            <a:r>
              <a:rPr lang="en-US" sz="1250" dirty="0">
                <a:solidFill>
                  <a:srgbClr val="3D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逐例插入输入资料、生成小结截图、质控清单比对，可附视频 / 图片附件。真实脱敏与仿真混合，仿真须标注。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算丰杯医疗 AI Skill 开发大赛  ·  骨科特色出院小结生成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937760" cy="4937760"/>
          </a:xfrm>
          <a:prstGeom prst="ellipse">
            <a:avLst/>
          </a:prstGeom>
          <a:ln w="12700">
            <a:solidFill>
              <a:srgbClr val="0E7C7B">
                <a:alpha val="3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ln w="12700">
            <a:solidFill>
              <a:srgbClr val="0E7C7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-1463040"/>
            <a:ext cx="3291840" cy="3291840"/>
          </a:xfrm>
          <a:prstGeom prst="ellipse">
            <a:avLst/>
          </a:prstGeom>
          <a:ln w="12700">
            <a:solidFill>
              <a:srgbClr val="0E7C7B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463040" y="-1463040"/>
            <a:ext cx="2468880" cy="2468880"/>
          </a:xfrm>
          <a:prstGeom prst="ellipse">
            <a:avLst/>
          </a:prstGeom>
          <a:ln w="12700">
            <a:solidFill>
              <a:srgbClr val="0E7C7B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落地与总结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即插即用的骨科出院小结治理助手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2333D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713232" cy="713232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49424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09928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打包上传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 ortho-discharge-summary/ 目录打 zip，上传平台“Skill 管理→上传技能”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15968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2333D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90288" y="2057400"/>
            <a:ext cx="713232" cy="713232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49424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58968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08576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跑通演示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08576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以真实脱敏案例在平台运行，过程可见，截图入 PPT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65008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2333D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39328" y="2057400"/>
            <a:ext cx="713232" cy="713232"/>
          </a:xfrm>
          <a:prstGeom prst="ellipse">
            <a:avLst/>
          </a:prstGeom>
          <a:solidFill>
            <a:srgbClr val="17A39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249424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08008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357616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医生审核签发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57616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医生对草稿审核、修改、签字，正式归档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66928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A5C5B"/>
          </a:solidFill>
          <a:ln/>
        </p:spPr>
      </p:sp>
      <p:sp>
        <p:nvSpPr>
          <p:cNvPr id="27" name="Text 22"/>
          <p:cNvSpPr/>
          <p:nvPr/>
        </p:nvSpPr>
        <p:spPr>
          <a:xfrm>
            <a:off x="914400" y="4114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一句话总结：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通用骨架 + 可插拔骨科知识库，规则优先不臆造，输出为需医生签发的规范草稿——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把医生的临床经验，沉淀成可计算、可验证、可复用的出院文书治理能力。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66928" y="548640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2333D"/>
          </a:solidFill>
          <a:ln w="12700">
            <a:solidFill>
              <a:srgbClr val="E8B24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66013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25880" y="54864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免责声明：本 Skill 输出为 AI 辅助生成的出院小结草稿，须经经治医生审核、修改并签字后方可正式使用，不构成诊疗结论。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骨科特色出院小结生成 Skill</dc:title>
  <dc:subject>PptxGenJS Presentation</dc:subject>
  <dc:creator>acits-xskills</dc:creator>
  <cp:lastModifiedBy>acits-xskills</cp:lastModifiedBy>
  <cp:revision>1</cp:revision>
  <dcterms:created xsi:type="dcterms:W3CDTF">2026-07-02T06:44:50Z</dcterms:created>
  <dcterms:modified xsi:type="dcterms:W3CDTF">2026-07-02T06:44:50Z</dcterms:modified>
</cp:coreProperties>
</file>